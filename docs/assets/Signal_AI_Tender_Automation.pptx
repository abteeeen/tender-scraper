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coverage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proof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proof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#boo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teeeen.github.io/Tender-scraper/" TargetMode="External"/><Relationship Id="rId3" Type="http://schemas.openxmlformats.org/officeDocument/2006/relationships/hyperlink" Target="https://abteeeen.github.io/Tender-scraper/proof.html" TargetMode="External"/><Relationship Id="rId4" Type="http://schemas.openxmlformats.org/officeDocument/2006/relationships/hyperlink" Target="https://abteeeen.github.io/Tender-scraper/coverag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48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-1828800"/>
            <a:ext cx="6400800" cy="6400800"/>
          </a:xfrm>
          <a:prstGeom prst="ellipse">
            <a:avLst/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7132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B1220"/>
                </a:solidFill>
                <a:latin typeface="Calibr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AI TENDER AUTOMATION · CLIENT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0B1220"/>
                </a:solidFill>
                <a:latin typeface="Calibri"/>
              </a:rPr>
              <a:t>The most intelligent way to win more tenders.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414B5A"/>
                </a:solidFill>
                <a:latin typeface="Calibri"/>
              </a:rPr>
              <a:t>Security &amp; Commercial Cleaning · South East Queensland — prepared by CJ Studio for Chief Group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329184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300" b="1">
                <a:solidFill>
                  <a:srgbClr val="1F4FD8"/>
                </a:solidFill>
                <a:latin typeface="Calibri"/>
                <a:hlinkClick r:id="rId2"/>
              </a:rPr>
              <a:t>🔗  abteeeen.github.io/Tender-scraper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8640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7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8112"/>
            <a:ext cx="219456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8A52"/>
                </a:solidFill>
                <a:latin typeface="Calibri"/>
              </a:rPr>
              <a:t>LIVE &amp; RUNNING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Calibri"/>
              </a:rPr>
              <a:t>Prepared July 2026  ·  Confidential — for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B1220"/>
                </a:solidFill>
                <a:latin typeface="Calibri"/>
              </a:rPr>
              <a:t>You're busy running crews. The tender chase eats the hours that should go into winning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275234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52344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4FD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37560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B1220"/>
                </a:solidFill>
                <a:latin typeface="Calibri"/>
              </a:rPr>
              <a:t>5 portals to check —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721608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AusTender, VendorPanel, councils — each with its own login, list and layout.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275234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52344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4FD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337560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B1220"/>
                </a:solidFill>
                <a:latin typeface="Calibri"/>
              </a:rPr>
              <a:t>100-page packs nobody has time to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721608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Compliance, pricing schedules and evaluation criteria buried deep in every document.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47183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18304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4FD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303520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B1220"/>
                </a:solidFill>
                <a:latin typeface="Calibri"/>
              </a:rPr>
              <a:t>Deadlines that slip past quietly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687568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A Tier-A tender closing in 2 days looks identical to one closing in 30 — until it's gone.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8056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47183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18304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4FD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303520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B1220"/>
                </a:solidFill>
                <a:latin typeface="Calibri"/>
              </a:rPr>
              <a:t>Competitors who simply got there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687568"/>
            <a:ext cx="4562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The winning edge isn't access — everyone has that. It's the hours between posted and pursued.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02 · TENDER RADAR — WHAT SIGNAL WATCHES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220"/>
                </a:solidFill>
                <a:latin typeface="Calibri"/>
              </a:rPr>
              <a:t>13 tender sources mapped across SEQ. 3 are live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F4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19656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22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1499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sources mapped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9164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819656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121408"/>
            <a:ext cx="1499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live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9164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819656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220"/>
                </a:solidFill>
                <a:latin typeface="Calibri"/>
              </a:rPr>
              <a:t>50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121408"/>
            <a:ext cx="1499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service-zone 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69164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1" y="1819656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220"/>
                </a:solidFill>
                <a:latin typeface="Calibri"/>
              </a:rPr>
              <a:t>600+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2121408"/>
            <a:ext cx="1499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suburbs whitelisted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81051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10512"/>
            <a:ext cx="274320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150" b="1">
                <a:solidFill>
                  <a:srgbClr val="1F4FD8"/>
                </a:solidFill>
                <a:latin typeface="Calibri"/>
                <a:hlinkClick r:id="rId2"/>
              </a:rPr>
              <a:t>🔗  Full coverage map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2880360"/>
          <a:ext cx="10515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926080"/>
                <a:gridCol w="1828800"/>
              </a:tblGrid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it posts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Brisbane City Council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SAP Ariba portal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8A52"/>
                          </a:solidFill>
                          <a:latin typeface="Calibri"/>
                        </a:rPr>
                        <a:t>Live · needs fix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Gold Coast / Logan / Ipswich / Moreton Bay / Redland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VendorPanel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8A52"/>
                          </a:solidFill>
                          <a:latin typeface="Calibri"/>
                        </a:rPr>
                        <a:t>Live · free feed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QTenders (state schools, hospitals, police)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Migrating → VendorPanel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A4661A"/>
                          </a:solidFill>
                          <a:latin typeface="Calibri"/>
                        </a:rPr>
                        <a:t>Migrating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QBuild (eTender)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State eTender portal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6B7686"/>
                          </a:solidFill>
                          <a:latin typeface="Calibri"/>
                        </a:rPr>
                        <a:t>Not yet monitored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UQ / QUT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Migrating with QTenders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A4661A"/>
                          </a:solidFill>
                          <a:latin typeface="Calibri"/>
                        </a:rPr>
                        <a:t>Migrating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Griffith University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VendorPanel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8A52"/>
                          </a:solidFill>
                          <a:latin typeface="Calibri"/>
                        </a:rPr>
                        <a:t>Live · free feed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AusTender (federal, RAAF Amberley, Enoggera)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Public feed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8A52"/>
                          </a:solidFill>
                          <a:latin typeface="Calibri"/>
                        </a:rPr>
                        <a:t>Live · free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EstimateOne / ICN Gateway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Subcontractor portals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6B7686"/>
                          </a:solidFill>
                          <a:latin typeface="Calibri"/>
                        </a:rPr>
                        <a:t>Not yet monitored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220"/>
                </a:solidFill>
                <a:latin typeface="Calibri"/>
              </a:rPr>
              <a:t>Two AI stages. One simple human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9202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14173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FD8"/>
                </a:solidFill>
                <a:latin typeface="Calibr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20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Calibri"/>
              </a:rPr>
              <a:t>runs hourly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220"/>
                </a:solidFill>
                <a:latin typeface="Calibri"/>
              </a:rPr>
              <a:t>Stage 1 · Discovery &amp; Triage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88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6148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Scan every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06323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AusTender, VendorPanel, BCC — hourly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558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32841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Filter the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630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Keep security/cleaning, drop the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22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8953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AI triage &amp;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1970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Extracts 12+ fields, assigns A/B/C tier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4897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897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4622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50km zone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7640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600+ suburb whitelist, drops interstate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056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56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50292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Draft the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53309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Ready-to-edit EOI per tender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6235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6192" y="55961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Log to the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897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Ranked, ready for one-click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69164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37959" y="19202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BE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1901952"/>
            <a:ext cx="14173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4661A"/>
                </a:solidFill>
                <a:latin typeface="Calibri"/>
              </a:rPr>
              <a:t>STAGE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1920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Calibri"/>
              </a:rPr>
              <a:t>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220"/>
                </a:solidFill>
                <a:latin typeface="Calibri"/>
              </a:rPr>
              <a:t>Stage 2 · Deep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59" y="2788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59" y="2788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276148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Open the full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306323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PDF · XLSX · ZIP — on approval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59" y="33558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332841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Extract what wins bids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3630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Compliance, pricing, scope, KPIs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59" y="3922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2" y="38953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Recommend a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6872" y="41970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Tender-specific bid positioning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59" y="44897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59" y="44897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6872" y="44622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Find the point of contact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76872" y="47640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Buyer + officer, from the doc — free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59" y="5056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59" y="5056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76872" y="50292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Enrich socials (paid)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76872" y="53309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LinkedIn / FB / IG via Apify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59" y="56235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59" y="5623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872" y="55961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Alert the team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76872" y="5897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Slack — nothing sits in a queue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6309360"/>
            <a:ext cx="105156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04 / 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◆ The only human step: a one-click approval between the two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04 · 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220"/>
                </a:solidFill>
                <a:latin typeface="Calibri"/>
              </a:rPr>
              <a:t>A ranked pipeline every morning — not a blank search 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240279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7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4027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1220"/>
                </a:solidFill>
                <a:latin typeface="Calibri"/>
              </a:rPr>
              <a:t>A prioritised tender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788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686"/>
                </a:solidFill>
                <a:latin typeface="Calibri"/>
              </a:rPr>
              <a:t>Every live opportunity, ranked A–C, with location, deadline, days-to-close, budget and red flags filled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96596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64024" y="2240279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224027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4FD8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9718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1220"/>
                </a:solidFill>
                <a:latin typeface="Calibri"/>
              </a:rPr>
              <a:t>A ready-to-edit bid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657600"/>
            <a:ext cx="2788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686"/>
                </a:solidFill>
                <a:latin typeface="Calibri"/>
              </a:rPr>
              <a:t>A first-pass Expression of Interest for every qualified tender — a warm start, not a blank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96596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8" y="2240279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BE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24027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9718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1220"/>
                </a:solidFill>
                <a:latin typeface="Calibri"/>
              </a:rPr>
              <a:t>The right person to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657600"/>
            <a:ext cx="2788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686"/>
                </a:solidFill>
                <a:latin typeface="Calibri"/>
              </a:rPr>
              <a:t>Buyer + officer name, role, email, phone — pulled from the tender, never invented. Socials via the paid layer.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064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310896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250" b="1">
                <a:solidFill>
                  <a:srgbClr val="1F4FD8"/>
                </a:solidFill>
                <a:latin typeface="Calibri"/>
                <a:hlinkClick r:id="rId2"/>
              </a:rPr>
              <a:t>🔗  See proof it's 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05 · PROOF — NOT A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220"/>
                </a:solidFill>
                <a:latin typeface="Calibri"/>
              </a:rPr>
              <a:t>Real output from a working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240279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21991"/>
            <a:ext cx="384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The tender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Every qualified tender appended to Google Sheets — ranked, dated, ready to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96596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64024" y="2240279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2221991"/>
            <a:ext cx="384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7432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The Slack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337560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New-tender pings, document-needed requests, and analysis-complete notices — automatically, in real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96596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8" y="2240279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221991"/>
            <a:ext cx="384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432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The deep-analysis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337560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Full bid intelligence per tender: compliance, pricing structure, scope, KPIs and a recommended bid strategy.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3212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475488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250" b="1">
                <a:solidFill>
                  <a:srgbClr val="1F4FD8"/>
                </a:solidFill>
                <a:latin typeface="Calibri"/>
                <a:hlinkClick r:id="rId2"/>
              </a:rPr>
              <a:t>🔗  abteeeen.github.io/Tender-scraper/proof.html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06 · FREE PATH VS PAID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B1220"/>
                </a:solidFill>
                <a:latin typeface="Calibri"/>
              </a:rPr>
              <a:t>Everything above runs on free tools. The paid layer opens the locked doors.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E7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8A52"/>
                </a:solidFill>
                <a:latin typeface="Calibri"/>
              </a:rPr>
              <a:t>FREE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n8n · Gemini · Sheets · Slack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8803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3 sources scanned hourly, 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82696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AI triage &amp; A-C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85032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85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50km zone gate (600+ suburbs)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87368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0873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Instant EOI drafts + deep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9704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A5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4897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Contact officer from the tender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68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8920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Can't auto-download login-gated packs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94376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686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2943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No LinkedIn / Facebook / Instagram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783080"/>
            <a:ext cx="5074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BE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192024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4661A"/>
                </a:solidFill>
                <a:latin typeface="Calibri"/>
              </a:rPr>
              <a:t>AUTOPILOT (PAID)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219456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Everything free, plus Apify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2880360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8803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Auto-login &amp; auto-download of packs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282696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Verified LinkedIn / Facebook / 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685032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3685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Fills missing emails &amp; phone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4087368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40873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Auto-approve Tier A in-zone tenders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4489704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44897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More sources: Griffith, QBuild &amp; beyond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4892040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4661A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48920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Human only when a portal blocks a 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07 · PRICING — MONTHLY RUNNING COST (SOFTWARE)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220"/>
                </a:solidFill>
                <a:latin typeface="Calibri"/>
              </a:rPr>
              <a:t>What it costs to run, in Australian dollars.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18288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AUD / month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n8n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Cloud Pro or self-hosted VPS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$78–100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OpenRouter (Gemini Flash-Lite)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Triage + drafts + deep analysis, ~70–120 tenders/day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$5–15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Apify (Starter)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Auto-download + social enrichment layer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$60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Apify (Scale)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Only if volume grows beyond current scope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$308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Robot cadence — free tier often enough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$0–30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Google Workspace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Sheets &amp; Drive — existing account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Slack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14B5A"/>
                          </a:solidFill>
                          <a:latin typeface="Calibri"/>
                        </a:rPr>
                        <a:t>Free tier is enough for alerts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FD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4924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68112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3DB0"/>
                </a:solidFill>
                <a:latin typeface="Calibri"/>
              </a:rPr>
              <a:t>Software subtotal: ~$140–450 AUD/month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14B5A"/>
                </a:solidFill>
                <a:latin typeface="Calibri"/>
              </a:rPr>
              <a:t>Realistically ~$150–200 AUD/month self-hosting n8n and running the download robot on the free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08 · PRICING — ONE-OFF BUILD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220"/>
                </a:solidFill>
                <a:latin typeface="Calibri"/>
              </a:rPr>
              <a:t>The one-time setup, and what it takes to keep it healthy.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4FD8"/>
                </a:solidFill>
                <a:latin typeface="Calibri"/>
              </a:rPr>
              <a:t>ONE-OFF BUILD (LABOUR)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14B5A"/>
                </a:solidFill>
                <a:latin typeface="Calibri"/>
              </a:rPr>
              <a:t>Discovery + workflow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317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Calibri"/>
              </a:rPr>
              <a:t>10–15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14B5A"/>
                </a:solidFill>
                <a:latin typeface="Calibri"/>
              </a:rPr>
              <a:t>n8n build + LLM tuning + integrations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432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Calibri"/>
              </a:rPr>
              <a:t>15–20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14B5A"/>
                </a:solidFill>
                <a:latin typeface="Calibri"/>
              </a:rPr>
              <a:t>Download robot (Playwright/Apify)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546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Calibri"/>
              </a:rPr>
              <a:t>10–15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14B5A"/>
                </a:solidFill>
                <a:latin typeface="Calibri"/>
              </a:rPr>
              <a:t>Testing &amp; bug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661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Calibri"/>
              </a:rPr>
              <a:t>8–12 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023360"/>
            <a:ext cx="4572000" cy="18288"/>
          </a:xfrm>
          <a:prstGeom prst="rect">
            <a:avLst/>
          </a:prstGeom>
          <a:solidFill>
            <a:srgbClr val="E7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220"/>
                </a:solidFill>
                <a:latin typeface="Calibri"/>
              </a:rPr>
              <a:t>Total: 45–60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7686"/>
                </a:solidFill>
                <a:latin typeface="Calibri"/>
              </a:rPr>
              <a:t>At $90–150 AUD/hr → build cost of ~$4,000–9,000 AUD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4661A"/>
                </a:solidFill>
                <a:latin typeface="Calibri"/>
              </a:rPr>
              <a:t>ONGOING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317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14B5A"/>
                </a:solidFill>
                <a:latin typeface="Calibri"/>
              </a:rPr>
              <a:t>Selector drift (sites change), prompt tuning, and onboarding new 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220"/>
                </a:solidFill>
                <a:latin typeface="Calibri"/>
              </a:rPr>
              <a:t>4–8 hrs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Calibri"/>
              </a:rPr>
              <a:t>at $90–150 AUD/hr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434840"/>
            <a:ext cx="4480560" cy="18288"/>
          </a:xfrm>
          <a:prstGeom prst="rect">
            <a:avLst/>
          </a:prstGeom>
          <a:solidFill>
            <a:srgbClr val="E7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5720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4661A"/>
                </a:solidFill>
                <a:latin typeface="Calibri"/>
              </a:rPr>
              <a:t>= $360–1,200 AUD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09 · PRICING — ALL-IN BUDGET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220"/>
                </a:solidFill>
                <a:latin typeface="Calibri"/>
              </a:rPr>
              <a:t>Full picture: month one vs. steady state.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743200"/>
                <a:gridCol w="274320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Setup (one-off)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$4,000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$9,000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Software (monthly)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$150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Maintenance labour (monthly)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$360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414B5A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79476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5020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686"/>
                </a:solidFill>
                <a:latin typeface="Calibri"/>
              </a:rPr>
              <a:t>TOTAL MONTH-1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220"/>
                </a:solidFill>
                <a:latin typeface="Calibri"/>
              </a:rPr>
              <a:t>~$4,500 — $10,650 AUD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074920" cy="1554480"/>
          </a:xfrm>
          <a:prstGeom prst="roundRect">
            <a:avLst>
              <a:gd name="adj" fmla="val 8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95020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3DB0"/>
                </a:solidFill>
                <a:latin typeface="Calibri"/>
              </a:rPr>
              <a:t>STEADY-STATE, AFTER MONTH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251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73DB0"/>
                </a:solidFill>
                <a:latin typeface="Calibri"/>
              </a:rPr>
              <a:t>~$510 — $1,650 AUD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686"/>
                </a:solidFill>
                <a:latin typeface="Calibri"/>
              </a:rPr>
              <a:t>FX note: ~1 USD ≈ 1.55 AUD. Vendor pricing changes — confirm current tiers before final quote.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10 · HOW THIS COMPARES IN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220"/>
                </a:solidFill>
                <a:latin typeface="Calibri"/>
              </a:rPr>
              <a:t>Priced like a boutique agency. Delivers more.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1737360"/>
                <a:gridCol w="429768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Provider type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Setup (AUD)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Monthly (AUD)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you're missing</a:t>
                      </a:r>
                    </a:p>
                  </a:txBody>
                  <a:tcPr marL="101600" marR="101600" marT="63500" marB="63500" anchor="ctr">
                    <a:solidFill>
                      <a:srgbClr val="1F4FD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Upwork / Fiverr freelancer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$500–2,000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$0–200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Scrape only — no AI tiering, no bid drafts, no zone gate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Boutique automation agency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$3,000–8,000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$500–1,500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Matches this build — the realistic market band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Enterprise RPA (UiPath-style)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$15,000–40,000+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$2,000–5,000+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Overkill for this scope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SaaS tender-alert subscription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$150–500 /seat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14B5A"/>
                          </a:solidFill>
                          <a:latin typeface="Calibri"/>
                        </a:rPr>
                        <a:t>Generic keyword match — no ownership, no custom gate</a:t>
                      </a:r>
                    </a:p>
                  </a:txBody>
                  <a:tcPr marL="101600" marR="101600" marT="63500" marB="6350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02920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14B5A"/>
                </a:solidFill>
                <a:latin typeface="Calibri"/>
              </a:rPr>
              <a:t>This system is priced like a boutique agency build but delivers more than most freelance builds (AI tiering, bid drafts, auto-download robot, human approval gate) — at a fraction of enterprise RPA cost. You own the workflow outright: no per-seat fee, no vendor lock-in.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AA0FF"/>
                </a:solidFill>
                <a:latin typeface="Calibri"/>
              </a:rPr>
              <a:t>11 · THE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2-week trial — on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FD5E0"/>
                </a:solidFill>
                <a:latin typeface="Calibri"/>
              </a:rPr>
              <a:t>A full 2-week trial normally costs ~$15–110 AUD in infrastructure, depending on the path. We're covering it — zero cost to you to see it running on your real tenders.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74320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1600" marR="101600" marT="63500" marB="63500" anchor="ctr">
                    <a:solidFill>
                      <a:srgbClr val="222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Normal cost (AUD)</a:t>
                      </a:r>
                    </a:p>
                  </a:txBody>
                  <a:tcPr marL="101600" marR="101600" marT="63500" marB="63500" anchor="ctr">
                    <a:solidFill>
                      <a:srgbClr val="222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For this trial</a:t>
                      </a:r>
                    </a:p>
                  </a:txBody>
                  <a:tcPr marL="101600" marR="101600" marT="63500" marB="63500" anchor="ctr">
                    <a:solidFill>
                      <a:srgbClr val="222C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Apify (free tier)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FE3B0"/>
                          </a:solidFill>
                          <a:latin typeface="Calibri"/>
                        </a:rPr>
                        <a:t>we absorb it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OpenRouter (Gemini Flash-Lite)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$3–8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FE3B0"/>
                          </a:solidFill>
                          <a:latin typeface="Calibri"/>
                        </a:rPr>
                        <a:t>we absorb it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n8n (self-hosted)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$10–15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FE3B0"/>
                          </a:solidFill>
                          <a:latin typeface="Calibri"/>
                        </a:rPr>
                        <a:t>we absorb it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14B5A"/>
                          </a:solidFill>
                          <a:latin typeface="Calibri"/>
                        </a:rPr>
                        <a:t>Your cost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63500" marB="63500" anchor="ctr"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2743200"/>
            <a:ext cx="4343400" cy="3291840"/>
          </a:xfrm>
          <a:prstGeom prst="roundRect">
            <a:avLst>
              <a:gd name="adj" fmla="val 8000"/>
            </a:avLst>
          </a:prstGeom>
          <a:solidFill>
            <a:srgbClr val="141C2A"/>
          </a:solidFill>
          <a:ln w="9525">
            <a:solidFill>
              <a:srgbClr val="2B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926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A0FF"/>
                </a:solidFill>
                <a:latin typeface="Calibri"/>
              </a:rPr>
              <a:t>WHAT'S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E3B0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337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D5E0"/>
                </a:solidFill>
                <a:latin typeface="Calibri"/>
              </a:rPr>
              <a:t>Live monitoring of your 3 core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7947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E3B0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794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D5E0"/>
                </a:solidFill>
                <a:latin typeface="Calibri"/>
              </a:rPr>
              <a:t>AI-tiered tender board, updated hourly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251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E3B0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251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D5E0"/>
                </a:solidFill>
                <a:latin typeface="Calibri"/>
              </a:rPr>
              <a:t>Slack alerts — new tenders, docs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E3B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091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D5E0"/>
                </a:solidFill>
                <a:latin typeface="Calibri"/>
              </a:rPr>
              <a:t>One full deep-analysis result on a real tender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1663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E3B0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166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D5E0"/>
                </a:solidFill>
                <a:latin typeface="Calibri"/>
              </a:rPr>
              <a:t>A sample lead / point-of-contact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8C0CE"/>
                </a:solidFill>
                <a:latin typeface="Calibri"/>
              </a:rPr>
              <a:t>Risk to you: near zero. Upgrade only if the free tier throttles — and even that is a single ~$60 AUD month you can cancel immediately after.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1500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475488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  <a:hlinkClick r:id="rId2"/>
              </a:rPr>
              <a:t>🔗  Book the trial → abteeeen.github.io/Tender-scraper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FD8"/>
                </a:solidFill>
                <a:latin typeface="Calibri"/>
              </a:rPr>
              <a:t>12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220"/>
                </a:solidFill>
                <a:latin typeface="Calibri"/>
              </a:rPr>
              <a:t>From assisted to fully automated.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82296" cy="1371600"/>
          </a:xfrm>
          <a:prstGeom prst="rect">
            <a:avLst/>
          </a:prstGeom>
          <a:solidFill>
            <a:srgbClr val="0F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02996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7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11887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8A52"/>
                </a:solidFill>
                <a:latin typeface="Calibri"/>
              </a:rPr>
              <a:t>Live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Assisted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24912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Automated discovery, AI triage, zone filtering, first-pass drafts, deep analysis and contact extraction — with a one-click human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82296" cy="1371600"/>
          </a:xfrm>
          <a:prstGeom prst="rect">
            <a:avLst/>
          </a:prstGeom>
          <a:solidFill>
            <a:srgbClr val="A4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358444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BE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11887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4661A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3192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Hands-off intake &amp; social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79392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Top-tier tenders auto-approved, packs pulled automatically, buyer socials found — removing the manual login and download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937760"/>
            <a:ext cx="82296" cy="1371600"/>
          </a:xfrm>
          <a:prstGeom prst="rect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513892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20640"/>
            <a:ext cx="11887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686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8640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B1220"/>
                </a:solidFill>
                <a:latin typeface="Calibri"/>
              </a:rPr>
              <a:t>Bid drafting in your 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33872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686"/>
                </a:solidFill>
                <a:latin typeface="Calibri"/>
              </a:rPr>
              <a:t>Trained on past submissions, AI produces complete draft responses in your tone, delivered into your CRM or bid folder.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Signal — AI Tender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68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AA0FF"/>
                </a:solidFill>
                <a:latin typeface="Calibri"/>
              </a:rPr>
              <a:t>13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Your tender pipeline, running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FD5E0"/>
                </a:solidFill>
                <a:latin typeface="Calibri"/>
              </a:rPr>
              <a:t>Three things we need from your side to move to Phase 2: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37560" cy="1965960"/>
          </a:xfrm>
          <a:prstGeom prst="roundRect">
            <a:avLst>
              <a:gd name="adj" fmla="val 8000"/>
            </a:avLst>
          </a:prstGeom>
          <a:solidFill>
            <a:srgbClr val="141C2A"/>
          </a:solidFill>
          <a:ln w="9525">
            <a:solidFill>
              <a:srgbClr val="2B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AA0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Compliance dealbreakers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8C0CE"/>
                </a:solidFill>
                <a:latin typeface="Calibri"/>
              </a:rPr>
              <a:t>The licences, insurance levels and certs the AI should treat as automatic red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468880"/>
            <a:ext cx="3337560" cy="1965960"/>
          </a:xfrm>
          <a:prstGeom prst="roundRect">
            <a:avLst>
              <a:gd name="adj" fmla="val 8000"/>
            </a:avLst>
          </a:prstGeom>
          <a:solidFill>
            <a:srgbClr val="141C2A"/>
          </a:solidFill>
          <a:ln w="9525">
            <a:solidFill>
              <a:srgbClr val="2B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AA0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1089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3–5 past submissions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6118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8C0CE"/>
                </a:solidFill>
                <a:latin typeface="Calibri"/>
              </a:rPr>
              <a:t>Pricing redacted — to train the drafting AI on your tone and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468880"/>
            <a:ext cx="3337560" cy="1965960"/>
          </a:xfrm>
          <a:prstGeom prst="roundRect">
            <a:avLst>
              <a:gd name="adj" fmla="val 8000"/>
            </a:avLst>
          </a:prstGeom>
          <a:solidFill>
            <a:srgbClr val="141C2A"/>
          </a:solidFill>
          <a:ln w="9525">
            <a:solidFill>
              <a:srgbClr val="2B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AA0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1089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Portal &amp; system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36118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B8C0CE"/>
                </a:solidFill>
                <a:latin typeface="Calibri"/>
              </a:rPr>
              <a:t>Accounts to automate downloads from, and where finished drafts should land.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0060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141C2A"/>
          </a:solidFill>
          <a:ln w="9525">
            <a:solidFill>
              <a:srgbClr val="2B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A0FF"/>
                </a:solidFill>
                <a:latin typeface="Calibri"/>
              </a:rPr>
              <a:t>SEE IT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Overview  ·  Proof  ·  Coverage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420624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  <a:hlinkClick r:id="rId2"/>
              </a:rPr>
              <a:t>🔗  abteeeen.github.io/Tender-scraper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58064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2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5806440"/>
            <a:ext cx="146304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3"/>
              </a:rPr>
              <a:t>Proof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58064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2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5806440"/>
            <a:ext cx="1828800" cy="365760"/>
          </a:xfrm>
          <a:prstGeom prst="rect">
            <a:avLst/>
          </a:prstGeom>
          <a:noFill/>
        </p:spPr>
        <p:txBody>
          <a:bodyPr wrap="none" anchor="ctr" lIns="50800" rIns="5080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4"/>
              </a:rPr>
              <a:t>Coverage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105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Prepared by CJ Studio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